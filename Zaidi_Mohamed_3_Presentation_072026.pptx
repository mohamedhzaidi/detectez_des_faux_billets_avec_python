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Billets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AB-4A82-8AEF-5802BE6D0946}"/>
              </c:ext>
            </c:extLst>
          </c:dPt>
          <c:dPt>
            <c:idx val="1"/>
            <c:invertIfNegative val="0"/>
            <c:bubble3D val="0"/>
            <c:spPr>
              <a:solidFill>
                <a:srgbClr val="1E7A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AB-4A82-8AEF-5802BE6D09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3253B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Faux</c:v>
                </c:pt>
                <c:pt idx="1">
                  <c:v>Vrai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AB-4A82-8AEF-5802BE6D09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325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0"/>
        </c:scaling>
        <c:delete val="0"/>
        <c:axPos val="l"/>
        <c:majorGridlines>
          <c:spPr>
            <a:ln w="12700" cap="flat">
              <a:solidFill>
                <a:srgbClr val="E7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Corrélation avec is_genuine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23253B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diagonal</c:v>
                </c:pt>
                <c:pt idx="1">
                  <c:v>height_left</c:v>
                </c:pt>
                <c:pt idx="2">
                  <c:v>height_right</c:v>
                </c:pt>
                <c:pt idx="3">
                  <c:v>margin_up</c:v>
                </c:pt>
                <c:pt idx="4">
                  <c:v>margin_low</c:v>
                </c:pt>
                <c:pt idx="5">
                  <c:v>length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0.13300000000000001</c:v>
                </c:pt>
                <c:pt idx="1">
                  <c:v>-0.38</c:v>
                </c:pt>
                <c:pt idx="2">
                  <c:v>-0.48499999999999999</c:v>
                </c:pt>
                <c:pt idx="3">
                  <c:v>-0.60599999999999998</c:v>
                </c:pt>
                <c:pt idx="4">
                  <c:v>-0.78300000000000003</c:v>
                </c:pt>
                <c:pt idx="5">
                  <c:v>0.84899999999999998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3-4599-A69C-E33C3B9101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5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12700" cap="flat">
              <a:solidFill>
                <a:srgbClr val="E7EAF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39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232C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75520" y="-1371600"/>
            <a:ext cx="4023360" cy="4023360"/>
          </a:xfrm>
          <a:prstGeom prst="ellipse">
            <a:avLst/>
          </a:prstGeom>
          <a:solidFill>
            <a:srgbClr val="2B35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ONCFM  ·  ORGANISATION NATIONALE DE LUTTE CONTRE LE FAUX-MONNAYAGE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automatique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faux billets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de Machine Learning pour fiabiliser et accélérer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des billets </a:t>
            </a:r>
            <a:r>
              <a:rPr lang="en-US" sz="1600" i="1" dirty="0" err="1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i="1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euros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Zaidi – Data Analyst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8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200" dirty="0">
                <a:solidFill>
                  <a:srgbClr val="88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— Analyse de données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demande de l'ONCFM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37960" cy="4434840"/>
          </a:xfrm>
          <a:prstGeom prst="roundRect">
            <a:avLst>
              <a:gd name="adj" fmla="val 1649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897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</a:t>
            </a:r>
            <a:r>
              <a:rPr lang="en-US" sz="1650" i="1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souhaitons mettre à disposition des équipes une application de Machine Learning capable de prédire, à partir des caractéristiques géométriques d'un billet scanné, s'il s'agit d'un vrai ou d'un faux billet.</a:t>
            </a: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534924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Marie, responsable de la lutte contre le faux-monnayage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1691640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6352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35240" y="20756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ONCFM — lutte contre la contrefaçon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2788920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63524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FOURNIES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0" y="31729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billets déjà scannés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3886200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63524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DEMANDÉS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35240" y="42702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Rég. Logistique, KNN, Random Forest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4983480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635240" y="5074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CLÉ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35240" y="53675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testable en direct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 billets, 6 mesures géométriques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8163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scannés au total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34340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43400" y="28163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 (66,7 %)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13816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4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38160" y="28163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 (33,3 %)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variables géométriques mesurées sur chaque billet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526280"/>
            <a:ext cx="1508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4526280"/>
            <a:ext cx="1645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606040" y="5074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height_left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452628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480560" y="5074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height_right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5262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45262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229600" y="5074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45262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0058400" y="5074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Traiter les valeurs manquantes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2,47 %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valeurs de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 sont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billets sur 1 500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17830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stratégies possibles (cours OpenClassrooms)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7406640" cy="1207008"/>
          </a:xfrm>
          <a:prstGeom prst="roundRect">
            <a:avLst>
              <a:gd name="adj" fmla="val 5303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80560" y="2487168"/>
            <a:ext cx="457200" cy="457200"/>
          </a:xfrm>
          <a:prstGeom prst="ellipse">
            <a:avLst/>
          </a:prstGeom>
          <a:solidFill>
            <a:srgbClr val="C7CC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4805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140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lignes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770632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mais on perd déjà peu de données au départ.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3657600"/>
            <a:ext cx="7406640" cy="1207008"/>
          </a:xfrm>
          <a:prstGeom prst="roundRect">
            <a:avLst>
              <a:gd name="adj" fmla="val 5303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480560" y="3858768"/>
            <a:ext cx="457200" cy="457200"/>
          </a:xfrm>
          <a:prstGeom prst="ellipse">
            <a:avLst/>
          </a:prstGeom>
          <a:solidFill>
            <a:srgbClr val="C7CC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8056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7856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sentinelle (ex. -1)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4142232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Fausserait les distances utilisées par le KNN.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5029200"/>
            <a:ext cx="7406640" cy="1207008"/>
          </a:xfrm>
          <a:prstGeom prst="roundRect">
            <a:avLst>
              <a:gd name="adj" fmla="val 5303"/>
            </a:avLst>
          </a:prstGeom>
          <a:solidFill>
            <a:srgbClr val="E4F3EC"/>
          </a:solidFill>
          <a:ln w="15875">
            <a:solidFill>
              <a:srgbClr val="1E7A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480560" y="5230368"/>
            <a:ext cx="457200" cy="457200"/>
          </a:xfrm>
          <a:prstGeom prst="ellipse">
            <a:avLst/>
          </a:prstGeom>
          <a:solidFill>
            <a:srgbClr val="1E7A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48056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51572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Inférer par régression linéaire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5513832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les 5 autres variables pour reconstruire une valeur réaliste — approche retenue.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linéaire pour reconstruire margin_low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213055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height_left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height_right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margin_up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variables connues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75888" y="1965960"/>
            <a:ext cx="914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EB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00016" y="19659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37176" y="213055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91456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entraînée sur les 1 463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complètes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52944" y="1965960"/>
            <a:ext cx="914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EB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577072" y="196596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714232" y="213055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68512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37 lignes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4F3E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≈ 0,55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48640" y="53309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 la régression, validée sur un jeu de contrôle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343400"/>
            <a:ext cx="5468112" cy="18288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exclure is_genuine des prédicteurs 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8920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billet réel à scanner, l'étiquette vraie/faux n'est jamais connue à l'avance : l'imputation doit fonctionner sans elle, comme en production.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des classes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0350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73736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903720" y="1965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66,7 % / 33,3 %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903720" y="27706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vrais / faux billets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03720" y="3931920"/>
            <a:ext cx="4754880" cy="2240280"/>
          </a:xfrm>
          <a:prstGeom prst="roundRect">
            <a:avLst>
              <a:gd name="adj" fmla="val 3265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17804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déséquilibre des classes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78040" y="4526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utilise stratify=y au moment du split train/test pour conserver cette même proportion dans les deux jeux, et on ne juge pas les modèles sur la seule accuracy.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Quelles variables discriminent le mieux ?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E4F3E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90956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 →  0,85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margin_low  →  -0,78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09560" y="2651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corrélées à l'authenticité du billet.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402336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90956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 →  0,13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45720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Quasiment aucune corrélation : peu discriminante, mais conservée pour la modélisation (Random Forest gère bien ce cas).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séparation déjà visible à l'œil nu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001000" y="169164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graphique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0" y="246888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billet réel de l'échantillon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nuages (vrai / faux) se séparent déjà nettement selon ces 2 seules variables</a:t>
            </a:r>
            <a:endParaRPr lang="en-US" sz="12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confirme pourquoi les modèles obtiendront d'excellents scores plus loin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068522E-6EB4-07C5-DB36-D2A0D7D7B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40" y="1408938"/>
            <a:ext cx="6816888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 brute au modèle entraîné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499616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49961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/ 20 %, stratifié sur is_genuine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334256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3425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32461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88620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moyenne 0, écart-type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168896" y="23774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16889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32461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testés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88620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Rég. Logistique, KNN, Random Forest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2542032" cy="3200400"/>
          </a:xfrm>
          <a:prstGeom prst="roundRect">
            <a:avLst>
              <a:gd name="adj" fmla="val 2878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0003536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00353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32461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88620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 AUC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 par l'agence européenne EMV (European Monetary Verification)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— NON SUPERVISÉE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: les billets se regroupent-ils naturellement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jamais utiliser l'étiquette is_genuine, K-means cherche 2 groupes de billets qui se ressemblent selon leurs mesures géométriques.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169164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680960" y="18745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0,345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680960" y="2679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séparation modérée mais réelle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379476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90956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 l'outil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09560" y="43434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étiquettes existent déjà : K-means n'est pas l'outil de prédiction final, mais il confirme, de façon indépendante, que la frontière vrai/faux est bien réelle dans les données.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C9CB768-9306-5251-FC7F-78048613D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791" y="2514600"/>
            <a:ext cx="5161695" cy="38193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— SUPERVISÉE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la probabilité qu'un billet soit vrai comme une combinaison linéaire des 6 variables, passée dans une fonction logistique (courbe en S entre 0 et 1).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 (convergence garantie)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indispensable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directement interprétables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737360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20072" y="17373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89320" y="2505456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17920" y="2505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20072" y="250545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89320" y="3273552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17920" y="32735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20072" y="327355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89320" y="4041648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17920" y="40416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20072" y="40416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89320" y="4809744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17920" y="48097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20072" y="480974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— SUPERVISÉE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chaque nouveau billet selon la classe majoritaire parmi ses 5 voisins les plus proches, sans apprendre de coefficients — il stocke simplement les données d'entraînement.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5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sensible à l'échelle → standardisation cruciale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coefficients : « lazy learner 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737360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20072" y="17373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89320" y="2505456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17920" y="2505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20072" y="250545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0,985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89320" y="3273552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17920" y="32735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20072" y="327355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89320" y="4041648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17920" y="40416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20072" y="40416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0,988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89320" y="4809744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17920" y="48097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20072" y="480974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— SUPERVISÉE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100 arbres de décision sur des sous-échantillons aléatoires des données, puis fait voter l'ensemble pour la prédiction finale.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Insensible à l'échelle des variables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bien les variables peu informatives (ex. diagonal)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737360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20072" y="17373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89320" y="2505456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17920" y="2505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20072" y="250545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89320" y="3273552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17920" y="32735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20072" y="327355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89320" y="4041648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17920" y="40416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20072" y="40416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89320" y="4809744"/>
            <a:ext cx="5650992" cy="658368"/>
          </a:xfrm>
          <a:prstGeom prst="roundRect">
            <a:avLst>
              <a:gd name="adj" fmla="val 6944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17920" y="48097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20072" y="480974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0,999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3 modèles supervisés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94760" y="178308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79476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78308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9496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95160" y="1783080"/>
            <a:ext cx="14630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99516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58200" y="1783080"/>
            <a:ext cx="14630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45820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21240" y="1783080"/>
            <a:ext cx="14630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92124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94760" y="228600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794760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4960" y="228600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94960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95160" y="2286000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995160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58200" y="2286000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458200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21240" y="2286000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9921240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2852928"/>
            <a:ext cx="324612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48640" y="28529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94760" y="2852928"/>
            <a:ext cx="160020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794760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94960" y="2852928"/>
            <a:ext cx="160020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394960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95160" y="2852928"/>
            <a:ext cx="146304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995160" y="28529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458200" y="2852928"/>
            <a:ext cx="146304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458200" y="28529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921240" y="2852928"/>
            <a:ext cx="1463040" cy="566928"/>
          </a:xfrm>
          <a:prstGeom prst="rect">
            <a:avLst/>
          </a:prstGeom>
          <a:solidFill>
            <a:srgbClr val="F3F6FC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9921240" y="28529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3419856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48640" y="34198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794760" y="341985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794760" y="341985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394960" y="341985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394960" y="341985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95160" y="3419856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995160" y="34198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458200" y="3419856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8458200" y="34198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0,993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921240" y="3419856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9921240" y="34198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0,999</a:t>
            </a:r>
          </a:p>
        </p:txBody>
      </p:sp>
      <p:sp>
        <p:nvSpPr>
          <p:cNvPr id="52" name="Shape 50"/>
          <p:cNvSpPr/>
          <p:nvPr/>
        </p:nvSpPr>
        <p:spPr>
          <a:xfrm>
            <a:off x="548640" y="4306824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822960" y="4471416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300 billets du jeu de test : </a:t>
            </a:r>
            <a:r>
              <a:rPr lang="en-US" sz="12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et Random Forest ne se trompent que 3 fois (2 faux positifs, 1 faux négatif) — contre 5 erreurs pour KNN. L'erreur la plus coûteuse d'un point de vue métier, le faux positif (un faux billet validé comme vrai), est minimisée par les deux modèles en tête.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final retenu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252E70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463040" y="3611880"/>
            <a:ext cx="3108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99 % d'accuracy · ROC AUC 1,0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faux positifs et 1 faux négatif</a:t>
            </a:r>
            <a:endParaRPr lang="en-US" sz="1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300 billets testés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210312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à égalité avec Random Forest sur toutes les métriques clés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nettement plus simple : une équation linéaire contre 100 arbres de décision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directement interprétables — on peut expliquer chaque prédiction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gain de performance ne justifie la complexité supplémentaire du Random Forest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notebook à l'outil utilisable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1298448"/>
          </a:xfrm>
          <a:prstGeom prst="roundRect">
            <a:avLst>
              <a:gd name="adj" fmla="val 493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215798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unique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359152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Régression Logistique fusionnés en un seul objet scikit-learn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6675120" cy="1298448"/>
          </a:xfrm>
          <a:prstGeom prst="roundRect">
            <a:avLst>
              <a:gd name="adj" fmla="val 493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77240" y="36393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474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45920" y="38404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joblib.dump() → un fichier .joblib autoportant, prêt à être rechargé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6675120" cy="1298448"/>
          </a:xfrm>
          <a:prstGeom prst="roundRect">
            <a:avLst>
              <a:gd name="adj" fmla="val 493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9560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en ligne de commande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5321808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appli.py --csv_path billets.csv → prédictions immédiates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828800"/>
            <a:ext cx="4114800" cy="443484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818120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en conditions réelles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18120" y="26974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automatiquement le séparateur du fichier (« ; » ou « , »)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présence de toutes les colonnes attendues avant de prédire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aussi bien en notebook qu'en ligne de commande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Renvoie une probabilité en plus de la prédiction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de fonctionnement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46120" cy="4343400"/>
          </a:xfrm>
          <a:prstGeom prst="roundRect">
            <a:avLst>
              <a:gd name="adj" fmla="val 2254"/>
            </a:avLst>
          </a:prstGeom>
          <a:solidFill>
            <a:srgbClr val="E4F3E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jamais vus, correctement classés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vrais + 4 faux, mélangés,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toujours ≥ 89 %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605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15000" y="1737360"/>
            <a:ext cx="1600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15000" y="1737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0" y="1737360"/>
            <a:ext cx="14173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31520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P(vrai)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2194560"/>
            <a:ext cx="15544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60520" y="219456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15000" y="2194560"/>
            <a:ext cx="1600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715000" y="219456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0" y="2194560"/>
            <a:ext cx="1417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0" y="219456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60520" y="2624328"/>
            <a:ext cx="155448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60520" y="262432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15000" y="2624328"/>
            <a:ext cx="160020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715000" y="2624328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0" y="2624328"/>
            <a:ext cx="141732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0" y="2624328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60520" y="3054096"/>
            <a:ext cx="15544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160520" y="305409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15000" y="3054096"/>
            <a:ext cx="1600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715000" y="3054096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0" y="3054096"/>
            <a:ext cx="1417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315200" y="3054096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0,999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60520" y="3483864"/>
            <a:ext cx="155448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160520" y="3483864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15000" y="3483864"/>
            <a:ext cx="160020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715000" y="3483864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0" y="3483864"/>
            <a:ext cx="141732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315200" y="3483864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60520" y="3913632"/>
            <a:ext cx="15544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160520" y="391363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715000" y="3913632"/>
            <a:ext cx="1600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715000" y="3913632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15200" y="3913632"/>
            <a:ext cx="1417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315200" y="3913632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160520" y="4343400"/>
            <a:ext cx="155448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160520" y="434340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billet_6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715000" y="4343400"/>
            <a:ext cx="160020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715000" y="434340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315200" y="4343400"/>
            <a:ext cx="141732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315200" y="4343400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160520" y="4773168"/>
            <a:ext cx="15544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160520" y="477316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billet_7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15000" y="4773168"/>
            <a:ext cx="1600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5715000" y="4773168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315200" y="4773168"/>
            <a:ext cx="1417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7315200" y="4773168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160520" y="5202936"/>
            <a:ext cx="155448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160520" y="520293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billet_8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715000" y="5202936"/>
            <a:ext cx="160020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5715000" y="5202936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315200" y="5202936"/>
            <a:ext cx="1417320" cy="429768"/>
          </a:xfrm>
          <a:prstGeom prst="rect">
            <a:avLst/>
          </a:prstGeom>
          <a:solidFill>
            <a:srgbClr val="F3F6FC"/>
          </a:solidFill>
          <a:ln w="6350">
            <a:solidFill>
              <a:srgbClr val="E7EA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7315200" y="5202936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006840" y="1737360"/>
            <a:ext cx="2651760" cy="4343400"/>
          </a:xfrm>
          <a:prstGeom prst="roundRect">
            <a:avLst>
              <a:gd name="adj" fmla="val 2759"/>
            </a:avLst>
          </a:prstGeom>
          <a:solidFill>
            <a:srgbClr val="F3F6F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92354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du script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235440" y="2331720"/>
            <a:ext cx="2240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predictions.csv est généré automatiquement avec l'id, la prédiction et la probabilité de chaque billet.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pistes d'amélioration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BE7E5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modéré (≈0,55) pour l'imputation de margin_low</a:t>
            </a:r>
            <a:endParaRPr lang="en-US" sz="13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données limité (1 500 billets)</a:t>
            </a:r>
            <a:endParaRPr lang="en-US" sz="13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type de billet / une seule devise testée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E4F3EC"/>
          </a:solidFill>
          <a:ln/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une imputation multivariée (IterativeImputer)</a:t>
            </a:r>
            <a:endParaRPr lang="en-US" sz="13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hyperparamètres (GridSearchCV)</a:t>
            </a:r>
            <a:endParaRPr lang="en-US" sz="135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232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Élargir le jeu de données avec de nouveaux scans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outil fiable, prêt à être déployé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d'accuracy sur le jeu de test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seul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34340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modèle à distribuer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13816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prédiction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515600" cy="0"/>
          </a:xfrm>
          <a:prstGeom prst="line">
            <a:avLst/>
          </a:prstGeom>
          <a:noFill/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déployer le pipeline Régression Logistique auprès des équipes de contrôle terrain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se lance en une commande et ne nécessite aucune compétence en data science pour l'utiliser au quotidien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suggérée : élargir la collecte de billets pour renforcer encore la fiabilité du modèle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32C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1422</Words>
  <Application>Microsoft Office PowerPoint</Application>
  <PresentationFormat>Grand écran</PresentationFormat>
  <Paragraphs>322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ZAIDI Mohamed Hichem OW/FINANCE</cp:lastModifiedBy>
  <cp:revision>7</cp:revision>
  <dcterms:created xsi:type="dcterms:W3CDTF">2026-07-25T07:05:09Z</dcterms:created>
  <dcterms:modified xsi:type="dcterms:W3CDTF">2026-07-25T09:20:02Z</dcterms:modified>
</cp:coreProperties>
</file>